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  <p:sldId id="264" r:id="rId15"/>
    <p:sldId id="265" r:id="rId16"/>
    <p:sldId id="266" r:id="rId17"/>
    <p:sldId id="267" r:id="rId1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Interactive Quantum Error Correction Simulator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configurable environment for simulating multiple quantum noise models and evaluating QEC performance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7548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Devendra Reddy – CH.SC.U4CSE24021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Muzzammil – CH.SC.U4CSE24041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Guna Samhith – CH.SC.U4CSE24016</a:t>
            </a:r>
            <a:endParaRPr lang="en-US" sz="15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4279392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D966"/>
                </a:solidFill>
                <a:latin typeface="Georgia"/>
              </a:rPr>
              <a:t>AMRITA VISHWA VIDYAPEETHAM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Quantum Error Correction Simulator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noise introduces errors into quantum computations, which affects their reliability and the effectiveness of Quantum Error Correction (QEC).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607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errors: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systems are sensitive to noise, which can corrupt quantum states.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computation: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errors reduce the accuracy and reliability of the results.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QEC performance: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QEC works depends on the noise condition and the correction technique.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evaluation: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simulation environment is needed to study QEC under different noise conditions.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 (1–5)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Quantum Error Correction Simulator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566160"/>
                <a:gridCol w="3017520"/>
                <a:gridCol w="64008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focus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Efficient Simulation of Quantum Error Correction Codes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Padma Priya, A. Baradeswaran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QCAD-based simulation of QEC using bit-flip and phase-flip errors and recovery methods.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Quantum Fault Tolerance on Small Systems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Willsch, M. Willsch, F. Jin, H. De Raedt, K. Michielsen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fault-tolerant quantum computing with simulations and an IBM quantum processor under different error conditions.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Correcting Coherent Errors with Surface Codes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Sergey Bravyi, Matthias Englbrecht, Robert König, Nolan Peard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Studies surface-code QEC under coherent errors and compares with Pauli-noise approximations.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Performance of 9 Qubit Compass Codes in Ion Traps with Crosstalk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Dripto M. Debroy, Muyuan Li, Shilin Huang, Kenneth R. Brown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QEC codes under dephasing, gate overrotation and crosstalk in ion-trap systems.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Simulating Quantum Error Correction beyond Pauli Stochastic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Jordan Hines, Corey Ostrove, Kenneth Rudinger, Stefan Seritan, Kevin Young, Robin Blume-Kohout, Timothy Proctor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Simulates coherent and non-Pauli errors using detector error models for QEC performance analysis.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 (6–10)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Quantum Error Correction Simulator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566160"/>
                <a:gridCol w="3017520"/>
                <a:gridCol w="64008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focus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a Quantum Error-Correcting Code on Various Platforms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Qihao Guo, Yuan-Yuan Zhao, Markus Grassl, Xinfang Nie, Guo-Yong Xiang, Tao Xin, Zhang-Qi Yin, Bei Zeng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Implements a two-qubit code for detected amplitude damping on optical, IBM Q and NMR platforms.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and Performance Analysis of QEC with a Rotated Surface Code under a Realistic Noise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Mitsuki Katsuda, Kosuke Mitarai, Keisuke Fujii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Simulates a distance-5 rotated surface code under realistic stochastic and coherent noise.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Demonstrating Multi-Round Subsystem QEC Using Matching and Maximum Likelihood Decoders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Neereja Sundaresan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Demonstrates multi-round QEC and syndrome decoding with matching and maximum-likelihood decoders.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of Thermal-Relaxation Noise for Quantum Error Correction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Sean R. Garner, Nathan M. Myers, Meng Wang, Samuel Stein, Chenxu Liu, Ang 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Develops accurate simulation methods for thermal-relaxation noise and evaluates QEC performance.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Comparative Performance Analysis of QEC Codes under Simulated Depolarizing Noise using Qiskit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Gurpreet Kaur, Satveer Kour, Sandeep Kaur, Satinder Kaur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3-qubit bit-flip, phase-flip and Shor codes under depolarizing noise using Qiskit Aer.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Problems Identified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Quantum Error Correction Simulator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Limited coverage of noise conditions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look at specific error models (bit-flip, phase-flip, coherent errors, crosstalk, thermal relaxation, depolarizing) and evaluate QEC only for particular combinations of scheme and noise.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Difficulty comparing QEC performance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papers use different codes, noise models and simulation approaches, so their results are hard to compare directly.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 common framework for QEC experimentation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environment in which several QEC configurations can be tried and compared.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Quantum Error Correction Simulator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Multi-model noise simulation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simulator that supports several quantum noise models with configurable noise probabilities.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Before / after performance comparison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before and after QEC under different noise conditions.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Configurable QEC experimentation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users one interactive environment to experiment with selected QEC codes and noise models.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Architecture: a worked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Quantum Error Correction Simulator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3-qubit bit-flip code, bit-flip noise, 10% probability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291840" cy="402336"/>
          </a:xfrm>
          <a:prstGeom prst="rect">
            <a:avLst/>
          </a:prstGeom>
          <a:solidFill>
            <a:srgbClr val="EEF1F6"/>
          </a:solidFill>
          <a:ln w="12700">
            <a:solidFill>
              <a:srgbClr val="1B2A4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150876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3-qubit Bit-Flip QEC + Bit-Flip noise + 10% probability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1911096"/>
            <a:ext cx="0" cy="137160"/>
          </a:xfrm>
          <a:prstGeom prst="line">
            <a:avLst/>
          </a:prstGeom>
          <a:noFill/>
          <a:ln w="1270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40080" y="2048256"/>
            <a:ext cx="3291840" cy="402336"/>
          </a:xfrm>
          <a:prstGeom prst="rect">
            <a:avLst/>
          </a:prstGeom>
          <a:solidFill>
            <a:srgbClr val="EEF1F6"/>
          </a:solidFill>
          <a:ln w="12700">
            <a:solidFill>
              <a:srgbClr val="1B2A4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Circuit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204825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qubit: |ψ⟩ = |0⟩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2450592"/>
            <a:ext cx="0" cy="137160"/>
          </a:xfrm>
          <a:prstGeom prst="line">
            <a:avLst/>
          </a:prstGeom>
          <a:noFill/>
          <a:ln w="1270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40080" y="2587752"/>
            <a:ext cx="3291840" cy="402336"/>
          </a:xfrm>
          <a:prstGeom prst="rect">
            <a:avLst/>
          </a:prstGeom>
          <a:solidFill>
            <a:srgbClr val="EEF1F6"/>
          </a:solidFill>
          <a:ln w="12700">
            <a:solidFill>
              <a:srgbClr val="1B2A4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QEC Encoding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258775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→ |000⟩  (three physical qubits protect the information)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86000" y="2990088"/>
            <a:ext cx="0" cy="137160"/>
          </a:xfrm>
          <a:prstGeom prst="line">
            <a:avLst/>
          </a:prstGeom>
          <a:noFill/>
          <a:ln w="1270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" y="3127248"/>
            <a:ext cx="3291840" cy="402336"/>
          </a:xfrm>
          <a:prstGeom prst="rect">
            <a:avLst/>
          </a:prstGeom>
          <a:solidFill>
            <a:srgbClr val="EEF1F6"/>
          </a:solidFill>
          <a:ln w="12700">
            <a:solidFill>
              <a:srgbClr val="1B2A4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31272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 flip hits the 2nd qubit: |000⟩ → |010⟩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86000" y="3529584"/>
            <a:ext cx="0" cy="137160"/>
          </a:xfrm>
          <a:prstGeom prst="line">
            <a:avLst/>
          </a:prstGeom>
          <a:noFill/>
          <a:ln w="1270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40080" y="3666744"/>
            <a:ext cx="3291840" cy="402336"/>
          </a:xfrm>
          <a:prstGeom prst="rect">
            <a:avLst/>
          </a:prstGeom>
          <a:solidFill>
            <a:srgbClr val="EEF1F6"/>
          </a:solidFill>
          <a:ln w="12700">
            <a:solidFill>
              <a:srgbClr val="1B2A4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 / Syndrome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36667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qubits are not all equal; the syndrome points to the 2nd qubit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86000" y="4069080"/>
            <a:ext cx="0" cy="137160"/>
          </a:xfrm>
          <a:prstGeom prst="line">
            <a:avLst/>
          </a:prstGeom>
          <a:noFill/>
          <a:ln w="1270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40080" y="4206240"/>
            <a:ext cx="3291840" cy="402336"/>
          </a:xfrm>
          <a:prstGeom prst="rect">
            <a:avLst/>
          </a:prstGeom>
          <a:solidFill>
            <a:srgbClr val="EEF1F6"/>
          </a:solidFill>
          <a:ln w="12700">
            <a:solidFill>
              <a:srgbClr val="1B2A4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Correction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0" y="420624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 X gate to the 2nd qubit: |010⟩ → |000⟩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286000" y="4608576"/>
            <a:ext cx="0" cy="137160"/>
          </a:xfrm>
          <a:prstGeom prst="line">
            <a:avLst/>
          </a:prstGeom>
          <a:noFill/>
          <a:ln w="1270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40080" y="4745736"/>
            <a:ext cx="3291840" cy="402336"/>
          </a:xfrm>
          <a:prstGeom prst="rect">
            <a:avLst/>
          </a:prstGeom>
          <a:solidFill>
            <a:srgbClr val="EEF1F6"/>
          </a:solidFill>
          <a:ln w="12700">
            <a:solidFill>
              <a:srgbClr val="1B2A4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97680" y="474573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|000⟩ → |0⟩  (back to the original information)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286000" y="5148072"/>
            <a:ext cx="0" cy="137160"/>
          </a:xfrm>
          <a:prstGeom prst="line">
            <a:avLst/>
          </a:prstGeom>
          <a:noFill/>
          <a:ln w="1270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40080" y="5285232"/>
            <a:ext cx="3291840" cy="402336"/>
          </a:xfrm>
          <a:prstGeom prst="rect">
            <a:avLst/>
          </a:prstGeom>
          <a:solidFill>
            <a:srgbClr val="EEF1F6"/>
          </a:solidFill>
          <a:ln w="12700">
            <a:solidFill>
              <a:srgbClr val="1B2A4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0" y="528523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0, so the original information is recovered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286000" y="5687568"/>
            <a:ext cx="0" cy="137160"/>
          </a:xfrm>
          <a:prstGeom prst="line">
            <a:avLst/>
          </a:prstGeom>
          <a:noFill/>
          <a:ln w="1270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40080" y="5824728"/>
            <a:ext cx="3291840" cy="402336"/>
          </a:xfrm>
          <a:prstGeom prst="rect">
            <a:avLst/>
          </a:prstGeom>
          <a:solidFill>
            <a:srgbClr val="EEF1F6"/>
          </a:solidFill>
          <a:ln w="12700">
            <a:solidFill>
              <a:srgbClr val="1B2A4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97680" y="582472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error rate, fidelity and success rate with and without QEC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9"/>
                </a:solidFill>
                <a:latin typeface="Georgia"/>
              </a:rPr>
              <a:t>Phase 2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alibri"/>
              </a:rPr>
              <a:t>Interactive Quantum Error Correction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4C3A8C"/>
                </a:solidFill>
                <a:latin typeface="Calibri"/>
              </a:rPr>
              <a:t>1. Reference scope —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the exact noise channels (bit-flip X, phase-flip Z, depolarizing on ID gates) and QEC codes of our Python program all_with_noise_prob.py, extended with the Shor [[9,1,3]] code that corrects any single arbitrary error.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4C3A8C"/>
                </a:solidFill>
                <a:latin typeface="Calibri"/>
              </a:rPr>
              <a:t>2. Simulation engine —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a from-scratch state-vector simulator in TypeScript: exact gate matrices, seeded mulberry32 RNG (fully reproducible), and projective stabilizer measurements sampled quantum-trajectory style on every qubit.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4C3A8C"/>
                </a:solidFill>
                <a:latin typeface="Calibri"/>
              </a:rPr>
              <a:t>3. Syndrome + decoding —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each stabilizer generator is measured projectively; the syndrome string is matched against an auto-generated single-error lookup table (nearest-syndrome fallback), exactly reproducing the Python syndrome table 01→q0, 11→q1, 10→q2.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4C3A8C"/>
                </a:solidFill>
                <a:latin typeface="Calibri"/>
              </a:rPr>
              <a:t>4. Full circuit construction —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the complete pipeline circuit (data qubits + ancilla qubits + classical register) is generated from the chosen code for the circuit view, the PDF exports and the 3D lab; a column-packing layout keeps every circuit compact, complete and readable.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4C3A8C"/>
                </a:solidFill>
                <a:latin typeface="Calibri"/>
              </a:rPr>
              <a:t>5. Statistics layer —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Monte Carlo up to 25,000 shots plus N-shot distribution runs that tally measurement counts, logical error/success rates, state-fidelity averages, comparison charts and runtime.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4C3A8C"/>
                </a:solidFill>
                <a:latin typeface="Calibri"/>
              </a:rPr>
              <a:t>6. Verification —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an 86-assertion test suite: Monte Carlo matches the analytic curve (1−p)³+3p(1−p)², all 27 Shor single-error cases recover with F = 100%, and the error-propagation rules are verified gate by gate.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9"/>
                </a:solidFill>
                <a:latin typeface="Georgia"/>
              </a:rPr>
              <a:t>Phase 2 · System Architecture — Real-Time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alibri"/>
              </a:rPr>
              <a:t>Interactive Quantum Error Correction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06040" cy="2651760"/>
          </a:xfrm>
          <a:prstGeom prst="roundRect">
            <a:avLst>
              <a:gd name="adj" fmla="val 14000"/>
            </a:avLst>
          </a:prstGeom>
          <a:solidFill>
            <a:srgbClr val="1B2A49"/>
          </a:solidFill>
          <a:ln w="15240">
            <a:solidFill>
              <a:srgbClr val="3A4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Browser UI
7 tabs — Overview · Simulator Lab · 3D Quantum Lab · Performance Lab · Learn · Reference ·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60520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B2A49"/>
                </a:solidFill>
                <a:latin typeface="Calibri"/>
              </a:rPr>
              <a:t>Inputs
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QEC code ([[3,1,3]] / [[9,1,3]])
Noise channel + probability p
Input state |ψ⟩ (θ, φ)
Manual error injection
RNG seed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417320"/>
            <a:ext cx="4709160" cy="566928"/>
          </a:xfrm>
          <a:prstGeom prst="roundRect">
            <a:avLst>
              <a:gd name="adj" fmla="val 14000"/>
            </a:avLst>
          </a:prstGeom>
          <a:solidFill>
            <a:srgbClr val="4C3A8C"/>
          </a:solidFill>
          <a:ln w="15240">
            <a:solidFill>
              <a:srgbClr val="6A5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QEC ENGINE — state-vector simulator (one click = one full run)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7" y="2395728"/>
            <a:ext cx="1298448" cy="502920"/>
          </a:xfrm>
          <a:prstGeom prst="roundRect">
            <a:avLst>
              <a:gd name="adj" fmla="val 14000"/>
            </a:avLst>
          </a:prstGeom>
          <a:solidFill>
            <a:srgbClr val="2E6E8E"/>
          </a:solidFill>
          <a:ln w="15240">
            <a:solidFill>
              <a:srgbClr val="4E8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Encode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74336" y="2647188"/>
            <a:ext cx="219456" cy="0"/>
          </a:xfrm>
          <a:prstGeom prst="line">
            <a:avLst/>
          </a:prstGeom>
          <a:ln w="22225">
            <a:solidFill>
              <a:srgbClr val="8A9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93792" y="2395728"/>
            <a:ext cx="1298448" cy="502920"/>
          </a:xfrm>
          <a:prstGeom prst="roundRect">
            <a:avLst>
              <a:gd name="adj" fmla="val 14000"/>
            </a:avLst>
          </a:prstGeom>
          <a:solidFill>
            <a:srgbClr val="35506E"/>
          </a:solidFill>
          <a:ln w="15240">
            <a:solidFill>
              <a:srgbClr val="4E8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Noise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92240" y="2647188"/>
            <a:ext cx="219456" cy="0"/>
          </a:xfrm>
          <a:prstGeom prst="line">
            <a:avLst/>
          </a:prstGeom>
          <a:ln w="22225">
            <a:solidFill>
              <a:srgbClr val="8A9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11696" y="2395728"/>
            <a:ext cx="1298448" cy="502920"/>
          </a:xfrm>
          <a:prstGeom prst="roundRect">
            <a:avLst>
              <a:gd name="adj" fmla="val 14000"/>
            </a:avLst>
          </a:prstGeom>
          <a:solidFill>
            <a:srgbClr val="2E6E8E"/>
          </a:solidFill>
          <a:ln w="15240">
            <a:solidFill>
              <a:srgbClr val="4E8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Syndrome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3346704"/>
            <a:ext cx="1298448" cy="502920"/>
          </a:xfrm>
          <a:prstGeom prst="roundRect">
            <a:avLst>
              <a:gd name="adj" fmla="val 14000"/>
            </a:avLst>
          </a:prstGeom>
          <a:solidFill>
            <a:srgbClr val="2E6E8E"/>
          </a:solidFill>
          <a:ln w="15240">
            <a:solidFill>
              <a:srgbClr val="4E8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Correct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74336" y="3598164"/>
            <a:ext cx="219456" cy="0"/>
          </a:xfrm>
          <a:prstGeom prst="line">
            <a:avLst/>
          </a:prstGeom>
          <a:ln w="22225">
            <a:solidFill>
              <a:srgbClr val="8A9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93792" y="3346704"/>
            <a:ext cx="1298448" cy="502920"/>
          </a:xfrm>
          <a:prstGeom prst="roundRect">
            <a:avLst>
              <a:gd name="adj" fmla="val 14000"/>
            </a:avLst>
          </a:prstGeom>
          <a:solidFill>
            <a:srgbClr val="35506E"/>
          </a:solidFill>
          <a:ln w="15240">
            <a:solidFill>
              <a:srgbClr val="4E8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Decode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92240" y="3598164"/>
            <a:ext cx="219456" cy="0"/>
          </a:xfrm>
          <a:prstGeom prst="line">
            <a:avLst/>
          </a:prstGeom>
          <a:ln w="22225">
            <a:solidFill>
              <a:srgbClr val="8A9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711696" y="3346704"/>
            <a:ext cx="1298448" cy="502920"/>
          </a:xfrm>
          <a:prstGeom prst="roundRect">
            <a:avLst>
              <a:gd name="adj" fmla="val 14000"/>
            </a:avLst>
          </a:prstGeom>
          <a:solidFill>
            <a:srgbClr val="2E6E8E"/>
          </a:solidFill>
          <a:ln w="15240">
            <a:solidFill>
              <a:srgbClr val="4E8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Measure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325112" y="2898648"/>
            <a:ext cx="3035808" cy="448056"/>
          </a:xfrm>
          <a:prstGeom prst="line">
            <a:avLst/>
          </a:prstGeom>
          <a:ln w="19050">
            <a:solidFill>
              <a:srgbClr val="8A9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29000" y="3977639"/>
            <a:ext cx="525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22222"/>
                </a:solidFill>
                <a:latin typeface="Calibri"/>
              </a:rPr>
              <a:t>Noise: X / Z / depolarizing (p/3 each) on every qubit · Syndrome: projective Pauli checks into ancillas
Decoder: syndrome → correction lookup (X / Z recovery) · Readout: fidelity + logical outcome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4800600"/>
            <a:ext cx="4709160" cy="502920"/>
          </a:xfrm>
          <a:prstGeom prst="roundRect">
            <a:avLst>
              <a:gd name="adj" fmla="val 14000"/>
            </a:avLst>
          </a:prstGeom>
          <a:solidFill>
            <a:srgbClr val="1F7A4D"/>
          </a:solidFill>
          <a:ln w="15240">
            <a:solidFill>
              <a:srgbClr val="35A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Verified engine — 86 test assertions green (client-side, no server)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417320"/>
            <a:ext cx="2697480" cy="2651760"/>
          </a:xfrm>
          <a:prstGeom prst="roundRect">
            <a:avLst>
              <a:gd name="adj" fmla="val 14000"/>
            </a:avLst>
          </a:prstGeom>
          <a:solidFill>
            <a:srgbClr val="1B2A49"/>
          </a:solidFill>
          <a:ln w="15240">
            <a:solidFill>
              <a:srgbClr val="3A4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Outputs
11-row output summary · measurement distribution · comparison charts · large circuit view · Bloch spheres · 3D error propagation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4160520"/>
            <a:ext cx="2606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B2A49"/>
                </a:solidFill>
                <a:latin typeface="Calibri"/>
              </a:rPr>
              <a:t>Exports
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PDF report + circuit image + step log
Circuit PNG · JSON · CSV
All seeded &amp; reproducible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54680" y="2697480"/>
            <a:ext cx="484632" cy="0"/>
          </a:xfrm>
          <a:prstGeom prst="line">
            <a:avLst/>
          </a:prstGeom>
          <a:ln w="22225">
            <a:solidFill>
              <a:srgbClr val="8A9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58200" y="2697480"/>
            <a:ext cx="502920" cy="0"/>
          </a:xfrm>
          <a:prstGeom prst="line">
            <a:avLst/>
          </a:prstGeom>
          <a:ln w="22225">
            <a:solidFill>
              <a:srgbClr val="8A9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9"/>
                </a:solidFill>
                <a:latin typeface="Georgia"/>
              </a:rPr>
              <a:t>Phase 2 · The Flow — Full Pipeline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alibri"/>
              </a:rPr>
              <a:t>Interactive Quantum Error Correction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B2A49"/>
                </a:solidFill>
                <a:latin typeface="Calibri"/>
              </a:rPr>
              <a:t>Selected inputs: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Shor 9-Qubit Code · X error injected on q2 · Depolarizing noise p = 0.10 · seed 42 — captured live from the prototype (Simulator Lab → Run Shot).</a:t>
            </a:r>
          </a:p>
        </p:txBody>
      </p:sp>
      <p:pic>
        <p:nvPicPr>
          <p:cNvPr id="6" name="Picture 5" descr="ppt-circuit-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" y="1353312"/>
            <a:ext cx="9202576" cy="43159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72414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4C3A8C"/>
                </a:solidFill>
                <a:latin typeface="Calibri"/>
              </a:rPr>
              <a:t>Noise stage: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the ID slot on q2 is hit by the injected bit-flip (red wire + X marker) — the same role the ID gates play in all_with_noise_prob.py.</a:t>
            </a:r>
          </a:p>
          <a:p>
            <a:pPr>
              <a:spcAft>
                <a:spcPts val="100"/>
              </a:spcAft>
            </a:pPr>
            <a:r>
              <a:rPr sz="1100" b="1" i="0">
                <a:solidFill>
                  <a:srgbClr val="4C3A8C"/>
                </a:solidFill>
                <a:latin typeface="Calibri"/>
              </a:rPr>
              <a:t>Syndrome stage: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eight stabilizer checks run into the ancillas — Z1Z2 returns −1, syndrome bits [0 1 0 0 0 0 0 0] uniquely locate q2 WITHOUT reading the data.</a:t>
            </a:r>
          </a:p>
          <a:p>
            <a:pPr>
              <a:spcAft>
                <a:spcPts val="100"/>
              </a:spcAft>
            </a:pPr>
            <a:r>
              <a:rPr sz="1100" b="1" i="0">
                <a:solidFill>
                  <a:srgbClr val="4C3A8C"/>
                </a:solidFill>
                <a:latin typeface="Calibri"/>
              </a:rPr>
              <a:t>Correct stage: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the decoder applies X on q2 (highlighted "applied") → decode → final measurement returns |0⟩ with fidelity 100% vs 0% bare — one arbitrary error fully absorbed.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9"/>
                </a:solidFill>
                <a:latin typeface="Georgia"/>
              </a:rPr>
              <a:t>Phase 2 · Results — Simulation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alibri"/>
              </a:rPr>
              <a:t>Interactive Quantum Error Correction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ppt-crop-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07008"/>
            <a:ext cx="3854228" cy="3977639"/>
          </a:xfrm>
          <a:prstGeom prst="rect">
            <a:avLst/>
          </a:prstGeom>
        </p:spPr>
      </p:pic>
      <p:pic>
        <p:nvPicPr>
          <p:cNvPr id="6" name="Picture 5" descr="ppt-crop-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207008"/>
            <a:ext cx="5532120" cy="41355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4C3A8C"/>
                </a:solidFill>
                <a:latin typeface="Calibri"/>
              </a:rPr>
              <a:t>Single shot: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X error on q1 fully corrected — fidelity 100% with QEC vs 0% bare.   </a:t>
            </a:r>
            <a:r>
              <a:rPr sz="1500" b="1" i="0">
                <a:solidFill>
                  <a:srgbClr val="4C3A8C"/>
                </a:solidFill>
                <a:latin typeface="Calibri"/>
              </a:rPr>
              <a:t>200-shot run: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logical success 95.00% · logical error 5.00% · detected/corrected 26.5% · runtime 254 ms (1.27 ms/shot) · every value recomputed live in the browser.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B2A49"/>
                </a:solidFill>
                <a:latin typeface="Georgia"/>
              </a:rPr>
              <a:t>Phase 2 · Comparative Analysis, along with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alibri"/>
              </a:rPr>
              <a:t>Interactive Quantum Error Correction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201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011680"/>
                <a:gridCol w="2103120"/>
                <a:gridCol w="4572000"/>
              </a:tblGrid>
              <a:tr h="5257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Code [[n,k,d]]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Corrects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Best against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Observed behaviour in the prototype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3-Qubit Bit-Flip [[3,1,3]]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 bit-flip (X)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Bit-flip noise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Success (1−p)³ + 3p(1−p)² ≈ 97.2% at p = 0.1; Z errors are invisible to it.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3-Qubit Phase-Flip [[3,1,3]]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 phase-flip (Z)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Phase-flip 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H-conjugate of the bit-flip code; X errors are invisible to 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Shor [[9,1,3]]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 arbitrary (X, Y, Z)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Depolarizing noise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All 27 single-error cases corrected (F = 100%); beats the bare qubit below its ≈ 2% pseudo-threshold.</a:t>
                      </a:r>
                    </a:p>
                  </a:txBody>
                  <a:tcPr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ppt-crop-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74720"/>
            <a:ext cx="5989320" cy="24223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70448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4C3A8C"/>
                </a:solidFill>
                <a:latin typeface="Calibri"/>
              </a:rPr>
              <a:t>Sweep (800 shots/point):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the QEC curve stays above the bare curve until the pseudo-threshold — measured live in Performance Lab.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3474720"/>
            <a:ext cx="48920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B2A49"/>
                </a:solidFill>
                <a:latin typeface="Calibri"/>
              </a:rPr>
              <a:t>References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• P. W. Shor, "Scheme for reducing decoherence in quantum computer memory," Phys. Rev. A 52, R2493 (1995).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• A. R. Calderbank and P. W. Shor, "Good quantum error-correcting codes exist," Phys. Rev. A 54, 1098 (1996).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• A. M. Steane, "Error correcting codes in quantum theory," Phys. Rev. Lett. 77, 793 (1996).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• D. Gottesman, "Stabilizer Codes and Quantum Error Correction," PhD thesis, Caltech (1997).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• M. A. Nielsen and I. L. Chuang, Quantum Computation and Quantum Information, Cambridge University Press (2010).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2026-09-30T16:00:29Z</dcterms:created>
  <dcterms:modified xsi:type="dcterms:W3CDTF">2026-09-30T16:00:29Z</dcterms:modified>
</cp:coreProperties>
</file>